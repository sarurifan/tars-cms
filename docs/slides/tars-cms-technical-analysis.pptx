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C8C8"/>
                </a:solidFill>
                <a:latin typeface="Microsoft YaHei UI"/>
              </a:defRPr>
            </a:pPr>
            <a:r>
              <a:t>tars-cms · 技术架构分析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9904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8C8C8"/>
                </a:solidFill>
                <a:latin typeface="Inter"/>
              </a:defRPr>
            </a:pPr>
            <a:r>
              <a:t>SWISS · IKB · 01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0972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8DCFF"/>
                </a:solidFill>
                <a:latin typeface="Inter"/>
              </a:defRPr>
            </a:pPr>
            <a:r>
              <a:t>TARS FRAMEWORK × CONTENT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82880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FFFFFF"/>
                </a:solidFill>
                <a:latin typeface="Inter"/>
              </a:defRPr>
            </a:pPr>
            <a:r>
              <a:t>tars-cms</a:t>
            </a:r>
          </a:p>
          <a:p>
            <a:pPr>
              <a:defRPr sz="4400" b="0">
                <a:solidFill>
                  <a:srgbClr val="FFFFFF"/>
                </a:solidFill>
                <a:latin typeface="Microsoft YaHei UI"/>
              </a:defRPr>
            </a:pPr>
            <a:r>
              <a:t>大厂微服务实战项目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4754880"/>
            <a:ext cx="10972800" cy="13716"/>
          </a:xfrm>
          <a:prstGeom prst="rect">
            <a:avLst/>
          </a:prstGeom>
          <a:solidFill>
            <a:srgbClr val="64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4937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6F0FF"/>
                </a:solidFill>
                <a:latin typeface="Microsoft YaHei UI"/>
              </a:defRPr>
            </a:pPr>
            <a:r>
              <a:t>一个写给新手的「大厂微服务」实战项目 —— 用 TARS 从零搭一个真正能跑的内容管理系统。源自 Project-Nerv 项目拆出的 CMS 模块。</a:t>
            </a:r>
          </a:p>
          <a:p>
            <a:pPr>
              <a:defRPr sz="1100">
                <a:solidFill>
                  <a:srgbClr val="B4CDFF"/>
                </a:solidFill>
                <a:latin typeface="Microsoft YaHei UI"/>
              </a:defRPr>
            </a:pPr>
            <a:r>
              <a:t>SARURI · 2026-10-13 · 腾讯 TARS 开源框架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37373"/>
                </a:solidFill>
                <a:latin typeface="Microsoft YaHei UI"/>
              </a:defRPr>
            </a:pPr>
            <a:r>
              <a:t>ARCHITECTURE · 系统架构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9904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37373"/>
                </a:solidFill>
                <a:latin typeface="Inter"/>
              </a:defRPr>
            </a:pPr>
            <a:r>
              <a:t>02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14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37373"/>
                </a:solidFill>
                <a:latin typeface="Inter"/>
              </a:defRPr>
            </a:pPr>
            <a:r>
              <a:t>SYSTEM LAYERS · 03</a:t>
            </a:r>
          </a:p>
          <a:p>
            <a:pPr>
              <a:defRPr sz="3600" b="1">
                <a:solidFill>
                  <a:srgbClr val="0A0A0A"/>
                </a:solidFill>
                <a:latin typeface="Microsoft YaHei UI"/>
              </a:defRPr>
            </a:pPr>
            <a:r>
              <a:t>分层清晰 · 每层职责单一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2011680"/>
            <a:ext cx="3566160" cy="32918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19456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B4B4B4"/>
                </a:solidFill>
                <a:latin typeface="Inter"/>
              </a:defRPr>
            </a:pPr>
            <a:r>
              <a:t>LAYER 01 · FRONTEND</a:t>
            </a:r>
          </a:p>
          <a:p>
            <a:pPr>
              <a:defRPr sz="1800" b="1">
                <a:solidFill>
                  <a:srgbClr val="FFFFFF"/>
                </a:solidFill>
                <a:latin typeface="Microsoft YaHei UI"/>
              </a:defRPr>
            </a:pPr>
            <a:r>
              <a:t>前端 · Vue 3</a:t>
            </a:r>
          </a:p>
          <a:p>
            <a:pPr>
              <a:defRPr sz="1200">
                <a:solidFill>
                  <a:srgbClr val="DCDCDC"/>
                </a:solidFill>
                <a:latin typeface="Microsoft YaHei UI"/>
              </a:defRPr>
            </a:pPr>
            <a:r>
              <a:t>内容站点 H5 + 管理后台 Admin 双端。手写 CSS 零 UI 库依赖 / Element Plus。</a:t>
            </a:r>
          </a:p>
          <a:p>
            <a:pPr>
              <a:defRPr sz="1100" b="1">
                <a:solidFill>
                  <a:srgbClr val="96BEFF"/>
                </a:solidFill>
                <a:latin typeface="Inter"/>
              </a:defRPr>
            </a:pPr>
            <a:r>
              <a:t>H5 · Admin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6824" y="2011680"/>
            <a:ext cx="3566160" cy="32918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424" y="219456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37373"/>
                </a:solidFill>
                <a:latin typeface="Inter"/>
              </a:defRPr>
            </a:pPr>
            <a:r>
              <a:t>LAYER 02 · GATEWAY</a:t>
            </a:r>
          </a:p>
          <a:p>
            <a:pPr>
              <a:defRPr sz="1800" b="1">
                <a:solidFill>
                  <a:srgbClr val="0A0A0A"/>
                </a:solidFill>
                <a:latin typeface="Microsoft YaHei UI"/>
              </a:defRPr>
            </a:pPr>
            <a:r>
              <a:t>网关 · Node.js</a:t>
            </a:r>
          </a:p>
          <a:p>
            <a:pPr>
              <a:defRPr sz="1200">
                <a:solidFill>
                  <a:srgbClr val="737373"/>
                </a:solidFill>
                <a:latin typeface="Microsoft YaHei UI"/>
              </a:defRPr>
            </a:pPr>
            <a:r>
              <a:t>TarsGateway + BFF。HTTP ⇄ TARS RPC 协议转换 · 路由分发 / 限流 / 鉴权校验。</a:t>
            </a:r>
          </a:p>
          <a:p>
            <a:pPr>
              <a:defRPr sz="1100" b="1">
                <a:solidFill>
                  <a:srgbClr val="002FA7"/>
                </a:solidFill>
                <a:latin typeface="Inter"/>
              </a:defRPr>
            </a:pPr>
            <a:r>
              <a:t>BFF · RPC · :8200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10144" y="2011680"/>
            <a:ext cx="3566160" cy="329184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38744" y="219456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37373"/>
                </a:solidFill>
                <a:latin typeface="Inter"/>
              </a:defRPr>
            </a:pPr>
            <a:r>
              <a:t>LAYER 03 · SERVICES</a:t>
            </a:r>
          </a:p>
          <a:p>
            <a:pPr>
              <a:defRPr sz="1800" b="1">
                <a:solidFill>
                  <a:srgbClr val="0A0A0A"/>
                </a:solidFill>
                <a:latin typeface="Microsoft YaHei UI"/>
              </a:defRPr>
            </a:pPr>
            <a:r>
              <a:t>业务 · 多语言</a:t>
            </a:r>
          </a:p>
          <a:p>
            <a:pPr>
              <a:defRPr sz="1200">
                <a:solidFill>
                  <a:srgbClr val="737373"/>
                </a:solidFill>
                <a:latin typeface="Microsoft YaHei UI"/>
              </a:defRPr>
            </a:pPr>
            <a:r>
              <a:t>Go 写业务 · C++ 承载静态站 · 认证 OIDC/JWT。CMS / 认证 / 压测三服务独立。</a:t>
            </a:r>
          </a:p>
          <a:p>
            <a:pPr>
              <a:defRPr sz="1100" b="1">
                <a:solidFill>
                  <a:srgbClr val="002FA7"/>
                </a:solidFill>
                <a:latin typeface="Inter"/>
              </a:defRPr>
            </a:pPr>
            <a:r>
              <a:t>Go · C++ · JWT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5486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2FA7"/>
                </a:solidFill>
                <a:latin typeface="Inter"/>
              </a:defRPr>
            </a:pPr>
            <a:r>
              <a:t>TARS 平台层 · PLATFORM</a:t>
            </a:r>
          </a:p>
          <a:p>
            <a:pPr>
              <a:defRPr sz="1300" b="1">
                <a:solidFill>
                  <a:srgbClr val="0A0A0A"/>
                </a:solidFill>
                <a:latin typeface="Microsoft YaHei UI"/>
              </a:defRPr>
            </a:pPr>
            <a:r>
              <a:t>服务注册发现  |  配置中心  |  远程日志  |  调用监控  |  无损发布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37373"/>
                </a:solidFill>
                <a:latin typeface="Microsoft YaHei UI"/>
              </a:defRPr>
            </a:pPr>
            <a:r>
              <a:t>HIGHLIGHTS · 项目特点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9904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37373"/>
                </a:solidFill>
                <a:latin typeface="Inter"/>
              </a:defRPr>
            </a:pPr>
            <a:r>
              <a:t>03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14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37373"/>
                </a:solidFill>
                <a:latin typeface="Inter"/>
              </a:defRPr>
            </a:pPr>
            <a:r>
              <a:t>FOUR PILLARS · 04</a:t>
            </a:r>
          </a:p>
          <a:p>
            <a:pPr>
              <a:defRPr sz="3600" b="1">
                <a:solidFill>
                  <a:srgbClr val="0A0A0A"/>
                </a:solidFill>
                <a:latin typeface="Microsoft YaHei UI"/>
              </a:defRPr>
            </a:pPr>
            <a:r>
              <a:t>真实 · 混合 · 可逆 · 自述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2194560"/>
            <a:ext cx="2606040" cy="1828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2377440"/>
            <a:ext cx="2606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37373"/>
                </a:solidFill>
                <a:latin typeface="Inter"/>
              </a:defRPr>
            </a:pPr>
            <a:r>
              <a:t>— 01 / REAL</a:t>
            </a:r>
          </a:p>
          <a:p>
            <a:pPr>
              <a:defRPr sz="2000" b="1">
                <a:solidFill>
                  <a:srgbClr val="0A0A0A"/>
                </a:solidFill>
                <a:latin typeface="Microsoft YaHei UI"/>
              </a:defRPr>
            </a:pPr>
            <a:r>
              <a:t>真实完整</a:t>
            </a:r>
          </a:p>
          <a:p>
            <a:pPr>
              <a:defRPr sz="1300">
                <a:solidFill>
                  <a:srgbClr val="737373"/>
                </a:solidFill>
                <a:latin typeface="Microsoft YaHei UI"/>
              </a:defRPr>
            </a:pPr>
            <a:r>
              <a:t>不是 Hello World，而是一个能用的 CMS：内容、分类、媒体、站点配置、用户与权限。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4136" y="2194560"/>
            <a:ext cx="2606040" cy="1828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4136" y="2377440"/>
            <a:ext cx="2606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37373"/>
                </a:solidFill>
                <a:latin typeface="Inter"/>
              </a:defRPr>
            </a:pPr>
            <a:r>
              <a:t>— 02 / MIXED</a:t>
            </a:r>
          </a:p>
          <a:p>
            <a:pPr>
              <a:defRPr sz="2000" b="1">
                <a:solidFill>
                  <a:srgbClr val="0A0A0A"/>
                </a:solidFill>
                <a:latin typeface="Microsoft YaHei UI"/>
              </a:defRPr>
            </a:pPr>
            <a:r>
              <a:t>多语言混合</a:t>
            </a:r>
          </a:p>
          <a:p>
            <a:pPr>
              <a:defRPr sz="1300">
                <a:solidFill>
                  <a:srgbClr val="737373"/>
                </a:solidFill>
                <a:latin typeface="Microsoft YaHei UI"/>
              </a:defRPr>
            </a:pPr>
            <a:r>
              <a:t>每个服务用最合适的语言实现 —— Go 写业务、C++ 承载静态站、Node.js 写网关。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4768" y="2194560"/>
            <a:ext cx="2606040" cy="1828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2377440"/>
            <a:ext cx="2606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37373"/>
                </a:solidFill>
                <a:latin typeface="Inter"/>
              </a:defRPr>
            </a:pPr>
            <a:r>
              <a:t>— 03 / REVERSIBLE</a:t>
            </a:r>
          </a:p>
          <a:p>
            <a:pPr>
              <a:defRPr sz="2000" b="1">
                <a:solidFill>
                  <a:srgbClr val="0A0A0A"/>
                </a:solidFill>
                <a:latin typeface="Microsoft YaHei UI"/>
              </a:defRPr>
            </a:pPr>
            <a:r>
              <a:t>操作可逆</a:t>
            </a:r>
          </a:p>
          <a:p>
            <a:pPr>
              <a:defRPr sz="1300">
                <a:solidFill>
                  <a:srgbClr val="737373"/>
                </a:solidFill>
                <a:latin typeface="Microsoft YaHei UI"/>
              </a:defRPr>
            </a:pPr>
            <a:r>
              <a:t>每个部署步骤独立脚本，配套回滚，改坏了随时能退回去。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15400" y="2194560"/>
            <a:ext cx="2606040" cy="1828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2377440"/>
            <a:ext cx="26060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37373"/>
                </a:solidFill>
                <a:latin typeface="Inter"/>
              </a:defRPr>
            </a:pPr>
            <a:r>
              <a:t>— 04 / SELF-HOST</a:t>
            </a:r>
          </a:p>
          <a:p>
            <a:pPr>
              <a:defRPr sz="2000" b="1">
                <a:solidFill>
                  <a:srgbClr val="0A0A0A"/>
                </a:solidFill>
                <a:latin typeface="Microsoft YaHei UI"/>
              </a:defRPr>
            </a:pPr>
            <a:r>
              <a:t>自己介绍自己</a:t>
            </a:r>
          </a:p>
          <a:p>
            <a:pPr>
              <a:defRPr sz="1300">
                <a:solidFill>
                  <a:srgbClr val="737373"/>
                </a:solidFill>
                <a:latin typeface="Microsoft YaHei UI"/>
              </a:defRPr>
            </a:pPr>
            <a:r>
              <a:t>前端站点的内容就是本项目的文档与教程，由 CMS 自己管理。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37373"/>
                </a:solidFill>
                <a:latin typeface="Microsoft YaHei UI"/>
              </a:defRPr>
            </a:pPr>
            <a:r>
              <a:t>TARS CONCEPTS · 学习路径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9904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37373"/>
                </a:solidFill>
                <a:latin typeface="Inter"/>
              </a:defRPr>
            </a:pPr>
            <a:r>
              <a:t>04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14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37373"/>
                </a:solidFill>
                <a:latin typeface="Inter"/>
              </a:defRPr>
            </a:pPr>
            <a:r>
              <a:t>LEARNING PATH · 05 STAGES</a:t>
            </a:r>
          </a:p>
          <a:p>
            <a:pPr>
              <a:defRPr sz="3600" b="1">
                <a:solidFill>
                  <a:srgbClr val="0A0A0A"/>
                </a:solidFill>
                <a:latin typeface="Microsoft YaHei UI"/>
              </a:defRPr>
            </a:pPr>
            <a:r>
              <a:t>拆开一个服务 · 学完一个 TARS 概念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084832"/>
            <a:ext cx="109728" cy="109728"/>
          </a:xfrm>
          <a:prstGeom prst="ellipse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2FA7"/>
                </a:solidFill>
                <a:latin typeface="Inter"/>
              </a:defRPr>
            </a:pPr>
            <a:r>
              <a:t>STAGE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1168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2FA7"/>
                </a:solidFill>
                <a:latin typeface="Microsoft YaHei UI"/>
              </a:defRPr>
            </a:pPr>
            <a:r>
              <a:t>App / Server / Servant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0116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37373"/>
                </a:solidFill>
                <a:latin typeface="Microsoft YaHei UI"/>
              </a:defRPr>
            </a:pPr>
            <a:r>
              <a:t>三层命名模型 —— 每个服务的命名与注册方式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953512"/>
            <a:ext cx="109728" cy="109728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88036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37373"/>
                </a:solidFill>
                <a:latin typeface="Inter"/>
              </a:defRPr>
            </a:pPr>
            <a:r>
              <a:t>STAGE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88036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0A0A"/>
                </a:solidFill>
                <a:latin typeface="Microsoft YaHei UI"/>
              </a:defRPr>
            </a:pPr>
            <a:r>
              <a:t>IDL + 代码生成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8803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37373"/>
                </a:solidFill>
                <a:latin typeface="Microsoft YaHei UI"/>
              </a:defRPr>
            </a:pPr>
            <a:r>
              <a:t>cms/cms.tars 接口定义 + tars2go 生成桩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822191"/>
            <a:ext cx="109728" cy="109728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39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37373"/>
                </a:solidFill>
                <a:latin typeface="Inter"/>
              </a:defRPr>
            </a:pPr>
            <a:r>
              <a:t>STAGE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749039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0A0A"/>
                </a:solidFill>
                <a:latin typeface="Microsoft YaHei UI"/>
              </a:defRPr>
            </a:pPr>
            <a:r>
              <a:t>模板配置 + 心跳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74903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37373"/>
                </a:solidFill>
                <a:latin typeface="Microsoft YaHei UI"/>
              </a:defRPr>
            </a:pPr>
            <a:r>
              <a:t>服务启动参数集中管理；存活探测让平台稳定识别为 active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690872"/>
            <a:ext cx="109728" cy="109728"/>
          </a:xfrm>
          <a:prstGeom prst="ellipse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6177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37373"/>
                </a:solidFill>
                <a:latin typeface="Inter"/>
              </a:defRPr>
            </a:pPr>
            <a:r>
              <a:t>STAGE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6177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0A0A"/>
                </a:solidFill>
                <a:latin typeface="Microsoft YaHei UI"/>
              </a:defRPr>
            </a:pPr>
            <a:r>
              <a:t>网关与路由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6177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37373"/>
                </a:solidFill>
                <a:latin typeface="Microsoft YaHei UI"/>
              </a:defRPr>
            </a:pPr>
            <a:r>
              <a:t>gateway/ 的 HTTP → TARS 转发规则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5559552"/>
            <a:ext cx="109728" cy="109728"/>
          </a:xfrm>
          <a:prstGeom prst="ellipse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48640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2FA7"/>
                </a:solidFill>
                <a:latin typeface="Inter"/>
              </a:defRPr>
            </a:pPr>
            <a:r>
              <a:t>STAGE 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548640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2FA7"/>
                </a:solidFill>
                <a:latin typeface="Microsoft YaHei UI"/>
              </a:defRPr>
            </a:pPr>
            <a:r>
              <a:t>发布 / 扩容 / 压测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54864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37373"/>
                </a:solidFill>
                <a:latin typeface="Microsoft YaHei UI"/>
              </a:defRPr>
            </a:pPr>
            <a:r>
              <a:t>deploy/ 打包上传发布回滚脚本；Benchmark/ 实测 QPS 延迟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37373"/>
                </a:solidFill>
                <a:latin typeface="Microsoft YaHei UI"/>
              </a:defRPr>
            </a:pPr>
            <a:r>
              <a:t>ONE-CLICK DEPLOY · 离线一键部署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9904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37373"/>
                </a:solidFill>
                <a:latin typeface="Inter"/>
              </a:defRPr>
            </a:pPr>
            <a:r>
              <a:t>05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14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37373"/>
                </a:solidFill>
                <a:latin typeface="Inter"/>
              </a:defRPr>
            </a:pPr>
            <a:r>
              <a:t>OFFLINE PACK · 2.7GB · 断网可装</a:t>
            </a:r>
          </a:p>
          <a:p>
            <a:pPr>
              <a:defRPr sz="3600" b="1">
                <a:solidFill>
                  <a:srgbClr val="0A0A0A"/>
                </a:solidFill>
                <a:latin typeface="Microsoft YaHei UI"/>
              </a:defRPr>
            </a:pPr>
            <a:r>
              <a:t>夸克下载 · 合并 · 一键跑通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2286000"/>
            <a:ext cx="109728" cy="109728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2560320"/>
            <a:ext cx="2606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FA7"/>
                </a:solidFill>
                <a:latin typeface="Inter"/>
              </a:defRPr>
            </a:pPr>
            <a:r>
              <a:t>STEP 01</a:t>
            </a:r>
          </a:p>
          <a:p>
            <a:pPr>
              <a:defRPr sz="1800" b="1">
                <a:solidFill>
                  <a:srgbClr val="0A0A0A"/>
                </a:solidFill>
                <a:latin typeface="Microsoft YaHei UI"/>
              </a:defRPr>
            </a:pPr>
            <a:r>
              <a:t>下载两分卷</a:t>
            </a:r>
          </a:p>
          <a:p>
            <a:pPr>
              <a:defRPr sz="1200">
                <a:solidFill>
                  <a:srgbClr val="737373"/>
                </a:solidFill>
                <a:latin typeface="Microsoft YaHei UI"/>
              </a:defRPr>
            </a:pPr>
            <a:r>
              <a:t>offline-pack.tar.gz.aa (1.5G)</a:t>
            </a:r>
            <a:br/>
            <a:r>
              <a:t>+ .ab (1.2G)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4136" y="2286000"/>
            <a:ext cx="109728" cy="10972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4136" y="2560320"/>
            <a:ext cx="2606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37373"/>
                </a:solidFill>
                <a:latin typeface="Inter"/>
              </a:defRPr>
            </a:pPr>
            <a:r>
              <a:t>STEP 02</a:t>
            </a:r>
          </a:p>
          <a:p>
            <a:pPr>
              <a:defRPr sz="1800" b="1">
                <a:solidFill>
                  <a:srgbClr val="0A0A0A"/>
                </a:solidFill>
                <a:latin typeface="Microsoft YaHei UI"/>
              </a:defRPr>
            </a:pPr>
            <a:r>
              <a:t>合并解压</a:t>
            </a:r>
          </a:p>
          <a:p>
            <a:pPr>
              <a:defRPr sz="1200">
                <a:solidFill>
                  <a:srgbClr val="737373"/>
                </a:solidFill>
                <a:latin typeface="Microsoft YaHei UI"/>
              </a:defRPr>
            </a:pPr>
            <a:r>
              <a:t>cat 两分卷 | tar -xzf -</a:t>
            </a:r>
            <a:br/>
            <a:r>
              <a:t>解出 offline-pack/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4768" y="2286000"/>
            <a:ext cx="109728" cy="10972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2560320"/>
            <a:ext cx="2606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37373"/>
                </a:solidFill>
                <a:latin typeface="Inter"/>
              </a:defRPr>
            </a:pPr>
            <a:r>
              <a:t>STEP 03</a:t>
            </a:r>
          </a:p>
          <a:p>
            <a:pPr>
              <a:defRPr sz="1800" b="1">
                <a:solidFill>
                  <a:srgbClr val="0A0A0A"/>
                </a:solidFill>
                <a:latin typeface="Microsoft YaHei UI"/>
              </a:defRPr>
            </a:pPr>
            <a:r>
              <a:t>填环境变量</a:t>
            </a:r>
          </a:p>
          <a:p>
            <a:pPr>
              <a:defRPr sz="1200">
                <a:solidFill>
                  <a:srgbClr val="737373"/>
                </a:solidFill>
                <a:latin typeface="Microsoft YaHei UI"/>
              </a:defRPr>
            </a:pPr>
            <a:r>
              <a:t>cp env.sh.example env.sh</a:t>
            </a:r>
            <a:br/>
            <a:r>
              <a:t>填 CMS_DB_PASS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15400" y="2286000"/>
            <a:ext cx="109728" cy="109728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2560320"/>
            <a:ext cx="2606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FA7"/>
                </a:solidFill>
                <a:latin typeface="Inter"/>
              </a:defRPr>
            </a:pPr>
            <a:r>
              <a:t>STEP 04</a:t>
            </a:r>
          </a:p>
          <a:p>
            <a:pPr>
              <a:defRPr sz="1800" b="1">
                <a:solidFill>
                  <a:srgbClr val="0A0A0A"/>
                </a:solidFill>
                <a:latin typeface="Microsoft YaHei UI"/>
              </a:defRPr>
            </a:pPr>
            <a:r>
              <a:t>bash one-click.sh</a:t>
            </a:r>
          </a:p>
          <a:p>
            <a:pPr>
              <a:defRPr sz="1200">
                <a:solidFill>
                  <a:srgbClr val="737373"/>
                </a:solidFill>
                <a:latin typeface="Microsoft YaHei UI"/>
              </a:defRPr>
            </a:pPr>
            <a:r>
              <a:t>基础设施 + 业务服务</a:t>
            </a:r>
            <a:br/>
            <a:r>
              <a:t>+ 网关全链路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5120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737373"/>
                </a:solidFill>
                <a:latin typeface="Microsoft YaHei UI"/>
              </a:defRPr>
            </a:pPr>
            <a:r>
              <a:t>说明：镜像通过 deploy/n14-compose-deploy.sh 自动 docker load，无需联网 pull。</a:t>
            </a:r>
          </a:p>
          <a:p>
            <a:pPr>
              <a:defRPr sz="1200" b="1">
                <a:solidFill>
                  <a:srgbClr val="0A0A0A"/>
                </a:solidFill>
                <a:latin typeface="Microsoft YaHei UI"/>
              </a:defRPr>
            </a:pPr>
            <a:r>
              <a:t>包内包含：5 个 Docker 镜像 (~6.8G) + go1.22.12 + node20.19.0 + 3 业务发布包 + GatewayServer 二进制 (26M) + 最新源码。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C8C8"/>
                </a:solidFill>
                <a:latin typeface="Microsoft YaHei UI"/>
              </a:defRPr>
            </a:pPr>
            <a:r>
              <a:t>WHY TARS · 为什么是它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9904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C8C8C8"/>
                </a:solidFill>
                <a:latin typeface="Inter"/>
              </a:defRPr>
            </a:pPr>
            <a:r>
              <a:t>06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14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0A0A0"/>
                </a:solidFill>
                <a:latin typeface="Inter"/>
              </a:defRPr>
            </a:pPr>
            <a:r>
              <a:t>TENCENT · OPEN SOURCE · 2008→</a:t>
            </a:r>
          </a:p>
          <a:p>
            <a:pPr>
              <a:defRPr sz="3600" b="1">
                <a:solidFill>
                  <a:srgbClr val="FFFFFF"/>
                </a:solidFill>
                <a:latin typeface="Microsoft YaHei UI"/>
              </a:defRPr>
            </a:pPr>
            <a:r>
              <a:t>腾讯后台统一框架 2008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2011680"/>
            <a:ext cx="3566160" cy="13716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219456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C8C8"/>
                </a:solidFill>
                <a:latin typeface="Inter"/>
              </a:defRPr>
            </a:pPr>
            <a:r>
              <a:t>SCALE · 承载</a:t>
            </a:r>
          </a:p>
          <a:p>
            <a:pPr>
              <a:defRPr sz="1300">
                <a:solidFill>
                  <a:srgbClr val="AAAAAA"/>
                </a:solidFill>
                <a:latin typeface="Microsoft YaHei UI"/>
              </a:defRPr>
            </a:pPr>
            <a:r>
              <a:t>支撑腾讯 100+ 核心产品、上万台服务节点，具备百亿级调用承载能力。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4114800"/>
            <a:ext cx="35661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B4B4B4"/>
                </a:solidFill>
                <a:latin typeface="Inter"/>
              </a:defRPr>
            </a:pPr>
            <a:r>
              <a:t>100+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6824" y="2011680"/>
            <a:ext cx="3566160" cy="13716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6824" y="219456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C8C8"/>
                </a:solidFill>
                <a:latin typeface="Inter"/>
              </a:defRPr>
            </a:pPr>
            <a:r>
              <a:t>LANGUAGES · 多语言</a:t>
            </a:r>
          </a:p>
          <a:p>
            <a:pPr>
              <a:defRPr sz="1300">
                <a:solidFill>
                  <a:srgbClr val="AAAAAA"/>
                </a:solidFill>
                <a:latin typeface="Microsoft YaHei UI"/>
              </a:defRPr>
            </a:pPr>
            <a:r>
              <a:t>C++ / Java / Go / Node.js / PHP 全支持，Linux 基金会项目。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6824" y="4114800"/>
            <a:ext cx="35661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B4B4B4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0144" y="2011680"/>
            <a:ext cx="3566160" cy="13716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0144" y="219456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C8C8"/>
                </a:solidFill>
                <a:latin typeface="Inter"/>
              </a:defRPr>
            </a:pPr>
            <a:r>
              <a:t>GOVERNANCE · 治理</a:t>
            </a:r>
          </a:p>
          <a:p>
            <a:pPr>
              <a:defRPr sz="1300">
                <a:solidFill>
                  <a:srgbClr val="AAAAAA"/>
                </a:solidFill>
                <a:latin typeface="Microsoft YaHei UI"/>
              </a:defRPr>
            </a:pPr>
            <a:r>
              <a:t>名字服务、配置中心、远程日志、调用统计、无损发布全内置。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0144" y="4114800"/>
            <a:ext cx="35661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0" b="1">
                <a:solidFill>
                  <a:srgbClr val="5B7BFF"/>
                </a:solidFill>
                <a:latin typeface="Inter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37373"/>
                </a:solidFill>
                <a:latin typeface="Microsoft YaHei UI"/>
              </a:defRPr>
            </a:pPr>
            <a:r>
              <a:t>TECH SPEC · 技术规格 / 目录结构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9904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37373"/>
                </a:solidFill>
                <a:latin typeface="Inter"/>
              </a:defRPr>
            </a:pPr>
            <a:r>
              <a:t>07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14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37373"/>
                </a:solidFill>
                <a:latin typeface="Inter"/>
              </a:defRPr>
            </a:pPr>
            <a:r>
              <a:t>STACK · COMPONENTS · VERSIONS</a:t>
            </a:r>
          </a:p>
          <a:p>
            <a:pPr>
              <a:defRPr sz="3600" b="1">
                <a:solidFill>
                  <a:srgbClr val="0A0A0A"/>
                </a:solidFill>
                <a:latin typeface="Microsoft YaHei UI"/>
              </a:defRPr>
            </a:pPr>
            <a:r>
              <a:t>技术规格 · 多语言栈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2011680"/>
            <a:ext cx="5486400" cy="13716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2084832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0A0A"/>
                </a:solidFill>
                <a:latin typeface="Microsoft YaHei UI"/>
              </a:defRPr>
            </a:pPr>
            <a:r>
              <a:t>内容管理 cms/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084832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37373"/>
                </a:solidFill>
                <a:latin typeface="Microsoft YaHei UI"/>
              </a:defRPr>
            </a:pPr>
            <a:r>
              <a:t>Go · tars_go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" y="2743200"/>
            <a:ext cx="5486400" cy="13716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2816352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0A0A"/>
                </a:solidFill>
                <a:latin typeface="Microsoft YaHei UI"/>
              </a:defRPr>
            </a:pPr>
            <a:r>
              <a:t>TarsGateway + BFF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816352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37373"/>
                </a:solidFill>
                <a:latin typeface="Microsoft YaHei UI"/>
              </a:defRPr>
            </a:pPr>
            <a:r>
              <a:t>Node.js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3474720"/>
            <a:ext cx="5486400" cy="13716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3547872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0A0A"/>
                </a:solidFill>
                <a:latin typeface="Microsoft YaHei UI"/>
              </a:defRPr>
            </a:pPr>
            <a:r>
              <a:t>CmsWeb 静态站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547872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37373"/>
                </a:solidFill>
                <a:latin typeface="Microsoft YaHei UI"/>
              </a:defRPr>
            </a:pPr>
            <a:r>
              <a:t>C++ · tars_cpp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" y="4206240"/>
            <a:ext cx="5486400" cy="13716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4279392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0A0A"/>
                </a:solidFill>
                <a:latin typeface="Microsoft YaHei UI"/>
              </a:defRPr>
            </a:pPr>
            <a:r>
              <a:t>OIDC / JWT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279392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37373"/>
                </a:solidFill>
                <a:latin typeface="Microsoft YaHei UI"/>
              </a:defRPr>
            </a:pPr>
            <a:r>
              <a:t>Vue3 + Vite + Element Plus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" y="4937760"/>
            <a:ext cx="5486400" cy="13716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5010912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0A0A"/>
                </a:solidFill>
                <a:latin typeface="Microsoft YaHei UI"/>
              </a:defRPr>
            </a:pPr>
            <a:r>
              <a:t>go1.22.12 + node20.19.0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5010912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737373"/>
                </a:solidFill>
                <a:latin typeface="Microsoft YaHei UI"/>
              </a:defRPr>
            </a:pPr>
            <a:r>
              <a:t>MySQL 5.6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011680"/>
            <a:ext cx="4754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2FA7"/>
                </a:solidFill>
                <a:latin typeface="Inter"/>
              </a:defRPr>
            </a:pPr>
            <a:r>
              <a:t>REPO STRUCTURE · 目录结构</a:t>
            </a:r>
          </a:p>
          <a:p>
            <a:pPr>
              <a:defRPr sz="1100">
                <a:solidFill>
                  <a:srgbClr val="0A0A0A"/>
                </a:solidFill>
                <a:latin typeface="Microsoft YaHei UI"/>
              </a:defRPr>
            </a:pPr>
            <a:r>
              <a:t>cms/                  主力服务 —— 文章、分类、媒体、配置</a:t>
            </a:r>
          </a:p>
          <a:p>
            <a:pPr>
              <a:defRPr sz="1100">
                <a:solidFill>
                  <a:srgbClr val="0A0A0A"/>
                </a:solidFill>
                <a:latin typeface="Microsoft YaHei UI"/>
              </a:defRPr>
            </a:pPr>
            <a:r>
              <a:t>gateway/              TarsGateway 路由配置 + BFF 聚合</a:t>
            </a:r>
          </a:p>
          <a:p>
            <a:pPr>
              <a:defRPr sz="1100">
                <a:solidFill>
                  <a:srgbClr val="0A0A0A"/>
                </a:solidFill>
                <a:latin typeface="Microsoft YaHei UI"/>
              </a:defRPr>
            </a:pPr>
            <a:r>
              <a:t>h5/ + admin/          内容站 (Vue3) + 管理后台 (Element Plus)</a:t>
            </a:r>
          </a:p>
          <a:p>
            <a:pPr>
              <a:defRPr sz="1100">
                <a:solidFill>
                  <a:srgbClr val="0A0A0A"/>
                </a:solidFill>
                <a:latin typeface="Microsoft YaHei UI"/>
              </a:defRPr>
            </a:pPr>
            <a:r>
              <a:t>deploy/               部署脚本 —— 一键编排 + 单步回滚</a:t>
            </a:r>
          </a:p>
          <a:p>
            <a:pPr>
              <a:defRPr sz="1100">
                <a:solidFill>
                  <a:srgbClr val="0A0A0A"/>
                </a:solidFill>
                <a:latin typeface="Microsoft YaHei UI"/>
              </a:defRPr>
            </a:pPr>
            <a:r>
              <a:t>docs/                 项目文档 —— 架构、测试、踩坑记录</a:t>
            </a:r>
          </a:p>
          <a:p>
            <a:pPr>
              <a:defRPr sz="1100">
                <a:solidFill>
                  <a:srgbClr val="0A0A0A"/>
                </a:solidFill>
                <a:latin typeface="Microsoft YaHei UI"/>
              </a:defRPr>
            </a:pPr>
            <a:r>
              <a:t>Benchmark/            规划中 —— 压测用例</a:t>
            </a:r>
          </a:p>
          <a:p>
            <a:pPr>
              <a:defRPr sz="1100">
                <a:solidFill>
                  <a:srgbClr val="0A0A0A"/>
                </a:solidFill>
                <a:latin typeface="Microsoft YaHei UI"/>
              </a:defRPr>
            </a:pPr>
            <a:r>
              <a:t>auth/ · mp/ · base/   规划中 —— 独立认证 / 小程序 / IDL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37373"/>
                </a:solidFill>
                <a:latin typeface="Microsoft YaHei UI"/>
              </a:defRPr>
            </a:pPr>
            <a:r>
              <a:t>WHAT YOU LEARN · 你会学到什么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9904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37373"/>
                </a:solidFill>
                <a:latin typeface="Inter"/>
              </a:defRPr>
            </a:pPr>
            <a:r>
              <a:t>08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144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37373"/>
                </a:solidFill>
                <a:latin typeface="Inter"/>
              </a:defRPr>
            </a:pPr>
            <a:r>
              <a:t>6 CONCEPTS · 6 LESSONS</a:t>
            </a:r>
          </a:p>
          <a:p>
            <a:pPr>
              <a:defRPr sz="3600" b="1">
                <a:solidFill>
                  <a:srgbClr val="0A0A0A"/>
                </a:solidFill>
                <a:latin typeface="Microsoft YaHei UI"/>
              </a:defRPr>
            </a:pPr>
            <a:r>
              <a:t>一个项目 · 六门课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2011680"/>
            <a:ext cx="3566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21945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FA7"/>
                </a:solidFill>
                <a:latin typeface="Inter"/>
              </a:defRPr>
            </a:pPr>
            <a:r>
              <a:t>01</a:t>
            </a:r>
          </a:p>
          <a:p>
            <a:pPr>
              <a:defRPr sz="1600" b="1">
                <a:solidFill>
                  <a:srgbClr val="0A0A0A"/>
                </a:solidFill>
                <a:latin typeface="Microsoft YaHei UI"/>
              </a:defRPr>
            </a:pPr>
            <a:r>
              <a:t>三层命名模型</a:t>
            </a:r>
          </a:p>
          <a:p>
            <a:pPr>
              <a:defRPr sz="1200">
                <a:solidFill>
                  <a:srgbClr val="737373"/>
                </a:solidFill>
                <a:latin typeface="Microsoft YaHei UI"/>
              </a:defRPr>
            </a:pPr>
            <a:r>
              <a:t>App / Server / Servant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6824" y="2011680"/>
            <a:ext cx="3566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9704" y="21945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FA7"/>
                </a:solidFill>
                <a:latin typeface="Inter"/>
              </a:defRPr>
            </a:pPr>
            <a:r>
              <a:t>02</a:t>
            </a:r>
          </a:p>
          <a:p>
            <a:pPr>
              <a:defRPr sz="1600" b="1">
                <a:solidFill>
                  <a:srgbClr val="0A0A0A"/>
                </a:solidFill>
                <a:latin typeface="Microsoft YaHei UI"/>
              </a:defRPr>
            </a:pPr>
            <a:r>
              <a:t>IDL 代码生成</a:t>
            </a:r>
          </a:p>
          <a:p>
            <a:pPr>
              <a:defRPr sz="1200">
                <a:solidFill>
                  <a:srgbClr val="737373"/>
                </a:solidFill>
                <a:latin typeface="Microsoft YaHei UI"/>
              </a:defRPr>
            </a:pPr>
            <a:r>
              <a:t>cms.tars → tars2go 桩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10144" y="2011680"/>
            <a:ext cx="3566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3024" y="219456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FA7"/>
                </a:solidFill>
                <a:latin typeface="Inter"/>
              </a:defRPr>
            </a:pPr>
            <a:r>
              <a:t>03</a:t>
            </a:r>
          </a:p>
          <a:p>
            <a:pPr>
              <a:defRPr sz="1600" b="1">
                <a:solidFill>
                  <a:srgbClr val="0A0A0A"/>
                </a:solidFill>
                <a:latin typeface="Microsoft YaHei UI"/>
              </a:defRPr>
            </a:pPr>
            <a:r>
              <a:t>多语言服务</a:t>
            </a:r>
          </a:p>
          <a:p>
            <a:pPr>
              <a:defRPr sz="1200">
                <a:solidFill>
                  <a:srgbClr val="737373"/>
                </a:solidFill>
                <a:latin typeface="Microsoft YaHei UI"/>
              </a:defRPr>
            </a:pPr>
            <a:r>
              <a:t>tars_go / tars_cpp / Node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4114800"/>
            <a:ext cx="3566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42976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FA7"/>
                </a:solidFill>
                <a:latin typeface="Inter"/>
              </a:defRPr>
            </a:pPr>
            <a:r>
              <a:t>04</a:t>
            </a:r>
          </a:p>
          <a:p>
            <a:pPr>
              <a:defRPr sz="1600" b="1">
                <a:solidFill>
                  <a:srgbClr val="0A0A0A"/>
                </a:solidFill>
                <a:latin typeface="Microsoft YaHei UI"/>
              </a:defRPr>
            </a:pPr>
            <a:r>
              <a:t>模板 + 心跳</a:t>
            </a:r>
          </a:p>
          <a:p>
            <a:pPr>
              <a:defRPr sz="1200">
                <a:solidFill>
                  <a:srgbClr val="737373"/>
                </a:solidFill>
                <a:latin typeface="Microsoft YaHei UI"/>
              </a:defRPr>
            </a:pPr>
            <a:r>
              <a:t>服务启动集中管理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06824" y="4114800"/>
            <a:ext cx="3566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42976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2FA7"/>
                </a:solidFill>
                <a:latin typeface="Inter"/>
              </a:defRPr>
            </a:pPr>
            <a:r>
              <a:t>05</a:t>
            </a:r>
          </a:p>
          <a:p>
            <a:pPr>
              <a:defRPr sz="1600" b="1">
                <a:solidFill>
                  <a:srgbClr val="0A0A0A"/>
                </a:solidFill>
                <a:latin typeface="Microsoft YaHei UI"/>
              </a:defRPr>
            </a:pPr>
            <a:r>
              <a:t>网关路由</a:t>
            </a:r>
          </a:p>
          <a:p>
            <a:pPr>
              <a:defRPr sz="1200">
                <a:solidFill>
                  <a:srgbClr val="737373"/>
                </a:solidFill>
                <a:latin typeface="Microsoft YaHei UI"/>
              </a:defRPr>
            </a:pPr>
            <a:r>
              <a:t>HTTP → TARS 转发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0144" y="4114800"/>
            <a:ext cx="3566160" cy="192024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429768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C8DCFF"/>
                </a:solidFill>
                <a:latin typeface="Inter"/>
              </a:defRPr>
            </a:pPr>
            <a:r>
              <a:t>06</a:t>
            </a:r>
          </a:p>
          <a:p>
            <a:pPr>
              <a:defRPr sz="1600" b="1">
                <a:solidFill>
                  <a:srgbClr val="FFFFFF"/>
                </a:solidFill>
                <a:latin typeface="Microsoft YaHei UI"/>
              </a:defRPr>
            </a:pPr>
            <a:r>
              <a:t>发布 / 扩容 / 压测</a:t>
            </a:r>
          </a:p>
          <a:p>
            <a:pPr>
              <a:defRPr sz="1200">
                <a:solidFill>
                  <a:srgbClr val="E6F0FF"/>
                </a:solidFill>
                <a:latin typeface="Microsoft YaHei UI"/>
              </a:defRPr>
            </a:pPr>
            <a:r>
              <a:t>回滚脚本 + Benchmark 实测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37373"/>
                </a:solidFill>
                <a:latin typeface="Microsoft YaHei UI"/>
              </a:defRPr>
            </a:pPr>
            <a:r>
              <a:t>MANIFESTO · 核心主张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89904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37373"/>
                </a:solidFill>
                <a:latin typeface="Inter"/>
              </a:defRPr>
            </a:pPr>
            <a:r>
              <a:t>09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01168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0A0A0A"/>
                </a:solidFill>
                <a:latin typeface="Microsoft YaHei UI"/>
              </a:defRPr>
            </a:pPr>
            <a:r>
              <a:t>不是玩具 Demo，</a:t>
            </a:r>
          </a:p>
          <a:p>
            <a:pPr>
              <a:defRPr sz="4800" b="1">
                <a:solidFill>
                  <a:srgbClr val="002FA7"/>
                </a:solidFill>
                <a:latin typeface="Microsoft YaHei UI"/>
              </a:defRPr>
            </a:pPr>
            <a:r>
              <a:t>是跑得起来的企业级微服务。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54864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3"/>
                </a:solidFill>
                <a:latin typeface="Microsoft YaHei UI"/>
              </a:defRPr>
            </a:pPr>
            <a:r>
              <a:t>把服务拆开 = 学完一个 TARS 概念  ·  整体跑起来 = 跑通一套企业架构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390" cy="6858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37373"/>
                </a:solidFill>
                <a:latin typeface="Microsoft YaHei UI"/>
              </a:defRPr>
            </a:pPr>
            <a:r>
              <a:t>CLOSING · 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9904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37373"/>
                </a:solidFill>
                <a:latin typeface="Inter"/>
              </a:defRPr>
            </a:pPr>
            <a:r>
              <a:t>TAKEAWAYS · 03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4630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8DCFF"/>
                </a:solidFill>
                <a:latin typeface="Inter"/>
              </a:defRPr>
            </a:pPr>
            <a:r>
              <a:t>MANIFESTO</a:t>
            </a:r>
          </a:p>
          <a:p>
            <a:pPr>
              <a:defRPr sz="4000" b="1">
                <a:solidFill>
                  <a:srgbClr val="FFFFFF"/>
                </a:solidFill>
                <a:latin typeface="Microsoft YaHei UI"/>
              </a:defRPr>
            </a:pPr>
            <a:r>
              <a:t>用 TARS，</a:t>
            </a:r>
            <a:br/>
            <a:r>
              <a:t>跑通大厂架构。</a:t>
            </a:r>
          </a:p>
          <a:p>
            <a:pPr>
              <a:defRPr sz="1300">
                <a:solidFill>
                  <a:srgbClr val="E6F0FF"/>
                </a:solidFill>
                <a:latin typeface="Microsoft YaHei UI"/>
              </a:defRPr>
            </a:pPr>
            <a:r>
              <a:t>学习 TARS 的正确姿势：跟着 tars-cms 一步一步，从零搭出可运行、可拆解、可扩展的 CMS。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731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64592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0A0A"/>
                </a:solidFill>
                <a:latin typeface="Microsoft YaHei UI"/>
              </a:defRPr>
            </a:pPr>
            <a:r>
              <a:t>真实完整</a:t>
            </a:r>
          </a:p>
          <a:p>
            <a:pPr>
              <a:defRPr sz="1300">
                <a:solidFill>
                  <a:srgbClr val="737373"/>
                </a:solidFill>
                <a:latin typeface="Microsoft YaHei UI"/>
              </a:defRPr>
            </a:pPr>
            <a:r>
              <a:t>不是 Hello World，而是能用的 CMS。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108960"/>
            <a:ext cx="731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0A0A"/>
                </a:solidFill>
                <a:latin typeface="Inter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1089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0A0A"/>
                </a:solidFill>
                <a:latin typeface="Microsoft YaHei UI"/>
              </a:defRPr>
            </a:pPr>
            <a:r>
              <a:t>多语言混合</a:t>
            </a:r>
          </a:p>
          <a:p>
            <a:pPr>
              <a:defRPr sz="1300">
                <a:solidFill>
                  <a:srgbClr val="737373"/>
                </a:solidFill>
                <a:latin typeface="Microsoft YaHei UI"/>
              </a:defRPr>
            </a:pPr>
            <a:r>
              <a:t>Go / C++ / Node.js 各司其职。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572000"/>
            <a:ext cx="731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FA7"/>
                </a:solidFill>
                <a:latin typeface="Inter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45720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2FA7"/>
                </a:solidFill>
                <a:latin typeface="Microsoft YaHei UI"/>
              </a:defRPr>
            </a:pPr>
            <a:r>
              <a:t>离线可装</a:t>
            </a:r>
          </a:p>
          <a:p>
            <a:pPr>
              <a:defRPr sz="1300">
                <a:solidFill>
                  <a:srgbClr val="737373"/>
                </a:solidFill>
                <a:latin typeface="Microsoft YaHei UI"/>
              </a:defRPr>
            </a:pPr>
            <a:r>
              <a:t>2.7G 离线包断网可装，一键跑通。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